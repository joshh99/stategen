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88952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StateGen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7D2FE"/>
                </a:solidFill>
              </a:rPr>
              <a:t>Code Generation as a Markov Decision Process with Local Backtracking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F46E5"/>
                </a:solidFill>
              </a:rPr>
              <a:t>CMU 18-786 · Introduction to Deep Learning ·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</a:rPr>
              <a:t>Joe Maina · Patrick Nguyen · Patricia Muriira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"/>
            <a:ext cx="12188952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 with One-Shot Code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3566160" cy="2011680"/>
          </a:xfrm>
          <a:prstGeom prst="rect">
            <a:avLst/>
          </a:prstGeom>
          <a:solidFill>
            <a:srgbClr val="FFF1F1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356616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024128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❌  Single-shot fails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316736"/>
            <a:ext cx="334670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One LLM call generates the whole program.
Any small error means the entire output is wrong — no recovery possible.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914400"/>
            <a:ext cx="3566160" cy="2011680"/>
          </a:xfrm>
          <a:prstGeom prst="rect">
            <a:avLst/>
          </a:prstGeom>
          <a:solidFill>
            <a:srgbClr val="FFFBEB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0" y="914400"/>
            <a:ext cx="3566160" cy="54864"/>
          </a:xfrm>
          <a:prstGeom prst="rect">
            <a:avLst/>
          </a:prstGeom>
          <a:solidFill>
            <a:srgbClr val="D97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4528" y="1024128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406"/>
                </a:solidFill>
              </a:rPr>
              <a:t>⚠  Global retry is wasteful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4528" y="1316736"/>
            <a:ext cx="334670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Regenerate the entire solution on every failure.
Wastes tokens rewriting code that was already correct.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914400"/>
            <a:ext cx="3840480" cy="2011680"/>
          </a:xfrm>
          <a:prstGeom prst="rect">
            <a:avLst/>
          </a:prstGeom>
          <a:solidFill>
            <a:srgbClr val="F0FDF4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79" y="914400"/>
            <a:ext cx="384048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5007" y="1024128"/>
            <a:ext cx="3621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✓  Local repair is better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7" y="1316736"/>
            <a:ext cx="362102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Identify which part failed.
Repair only that fragment and leave the rest intact.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2004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46E5"/>
                </a:solidFill>
              </a:rPr>
              <a:t>Real programs have natural structure:  imports  →  helpers  →  main function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611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</a:rPr>
              <a:t>StateGen exploits this structure to make repair local and efficient.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"/>
            <a:ext cx="12188952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Framing Code Generation as an MDP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256032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96012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MDP Component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79" y="914400"/>
            <a:ext cx="841248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99232" y="96012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 StateGen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61872"/>
            <a:ext cx="25603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316736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State  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79" y="1261872"/>
            <a:ext cx="84124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9232" y="1316736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Partial program built so far (accumulated code fragments)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09344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1664208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Action  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79" y="1609344"/>
            <a:ext cx="8412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9232" y="1664208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Generate code for the next sub-problem (one LLM call)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956816"/>
            <a:ext cx="25603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2011680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Transition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79" y="1956816"/>
            <a:ext cx="84124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99232" y="2011680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Append fragment → new partial program; verify before committing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304288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2359152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Reward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79" y="2304288"/>
            <a:ext cx="8412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9232" y="2359152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+1 if all BCB unit tests pass, 0 otherwise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651760"/>
            <a:ext cx="256032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2706624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</a:rPr>
              <a:t>Backtrack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79" y="2651760"/>
            <a:ext cx="841248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99232" y="2706624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</a:rPr>
              <a:t>Failed state → repair only that fragment (local), not revert to s₀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4290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46E5"/>
                </a:solidFill>
              </a:rPr>
              <a:t>Why local backtracking?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794760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→  A bug in state i almost never originates from state i−1 (bugs are local)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105656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→  Full MDP backtrack to s₀ wastes all correctly generated prior states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416552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→  Local retry: fix only the failing fragment, re-append, continue forward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727448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→  Validated empirically: same accuracy as full backtrack at 2.6× fewer retries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"/>
            <a:ext cx="12188952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Four Methods We Compare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2651760" cy="2560320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2651760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115568"/>
            <a:ext cx="24323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Direct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408176"/>
            <a:ext cx="243230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Single LLM call.
No planning, no retry.
Baseline floor.
1 LLM call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005840"/>
            <a:ext cx="2651760" cy="2560320"/>
          </a:xfrm>
          <a:prstGeom prst="rect">
            <a:avLst/>
          </a:prstGeom>
          <a:solidFill>
            <a:srgbClr val="FFFBEB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0" y="1005840"/>
            <a:ext cx="2651760" cy="54864"/>
          </a:xfrm>
          <a:prstGeom prst="rect">
            <a:avLst/>
          </a:prstGeom>
          <a:solidFill>
            <a:srgbClr val="D97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1115568"/>
            <a:ext cx="24323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406"/>
                </a:solidFill>
              </a:rPr>
              <a:t>Self-Planning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1408176"/>
            <a:ext cx="243230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Write a numbered plan first, then generate code from the plan.
Retry whole solution on failure.
(Jiang et al., TOSEM 2024)
2+ LLM calls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05840"/>
            <a:ext cx="2651760" cy="2560320"/>
          </a:xfrm>
          <a:prstGeom prst="rect">
            <a:avLst/>
          </a:prstGeom>
          <a:solidFill>
            <a:srgbClr val="FFF1F1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005840"/>
            <a:ext cx="265176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8" y="1115568"/>
            <a:ext cx="24323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Self-Debugging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408176"/>
            <a:ext cx="243230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Generate → explain the code in prose → repair based on explanation.
(Chen et al., ICLR 2024)
3+ LLM calls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1005840"/>
            <a:ext cx="2834640" cy="2560320"/>
          </a:xfrm>
          <a:prstGeom prst="rect">
            <a:avLst/>
          </a:prstGeom>
          <a:solidFill>
            <a:srgbClr val="EFF6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52560" y="1005840"/>
            <a:ext cx="283464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62288" y="1115568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</a:rPr>
              <a:t>StateGen  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2288" y="1408176"/>
            <a:ext cx="261518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Decompose → per-state verify &amp; repair → final BCB eval.
Local backtracking. Memory cache.
2+ LLM calls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7947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All methods use the same LLM, same executor, same token tracker — fair comparison.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"/>
            <a:ext cx="12188952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Step 1: Decomposition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</a:rPr>
              <a:t>One LLM call produces a structured breakdown of the problem into sequential states: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7132320" cy="3474720"/>
          </a:xfrm>
          <a:prstGeom prst="rect">
            <a:avLst/>
          </a:prstGeom>
          <a:solidFill>
            <a:srgbClr val="F1F5F9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694944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STATE 0
Description: Import modules and define constants.
Preconditions: none
Postconditions: 'pandas' in dir(); 'numpy' in dir()
CODE:
import pandas as pd
import numpy as np
END_STATE
STATE 1
Description: Define the main task_func.
Preconditions: pd, np
Postconditions: callable(task_func)
CODE:
def task_func(df, col):
    return df.groupby(col).mean()
END_STATE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234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</a:rPr>
              <a:t>Each state has: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600200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→  Preconditions — what must already exist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947672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→  Postconditions — structural assertions to verify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295144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→  CODE block — the actual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642615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→  END_STATE — explicit delimiter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3108960"/>
            <a:ext cx="4114800" cy="1463040"/>
          </a:xfrm>
          <a:prstGeom prst="rect">
            <a:avLst/>
          </a:prstGeom>
          <a:solidFill>
            <a:srgbClr val="EFF6FF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3200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</a:rPr>
              <a:t>Design choice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52044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State 0 = imports only.
State 1 = all function defs.
Optional state 2 for helpers.
Small states = easier to repair.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"/>
            <a:ext cx="12188952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Step 2: Per-State 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</a:rPr>
              <a:t>After generating code for each state, we verify it immediately before moving on: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463040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533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Generate
fragment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3716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167128" y="1280160"/>
            <a:ext cx="1463040" cy="457200"/>
          </a:xfrm>
          <a:prstGeom prst="rect">
            <a:avLst/>
          </a:prstGeom>
          <a:solidFill>
            <a:srgbClr val="D97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12848" y="13533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Syntax
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0168" y="13716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68496" y="1280160"/>
            <a:ext cx="1463040" cy="457200"/>
          </a:xfrm>
          <a:prstGeom prst="rect">
            <a:avLst/>
          </a:prstGeom>
          <a:solidFill>
            <a:srgbClr val="D97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14215" y="13533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Run in
sandbox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31536" y="13716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9864" y="1280160"/>
            <a:ext cx="146304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5583" y="13533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Check
postconditions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2904" y="13716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71231" y="1280160"/>
            <a:ext cx="146304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16952" y="13533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Commit to
context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011680"/>
            <a:ext cx="5303520" cy="2011680"/>
          </a:xfrm>
          <a:prstGeom prst="rect">
            <a:avLst/>
          </a:prstGeom>
          <a:solidFill>
            <a:srgbClr val="FFF1F1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103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On failure → local repair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2468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→  Error message passed back to LLM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27614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→  LLM rewrites only the failing fragment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05409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→  Previous states remain untouched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467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→  Up to 3 repair attempts per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2011680"/>
            <a:ext cx="5852160" cy="2011680"/>
          </a:xfrm>
          <a:prstGeom prst="rect">
            <a:avLst/>
          </a:prstGeom>
          <a:solidFill>
            <a:srgbClr val="F0FDF4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210312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What quick check catches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46888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→  SyntaxError, IndentationError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76148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→  Import failures (missing modules)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05409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→  Runtime crashes at definition 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346704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→  Structural postconditions: callable(f), 'pd' in dir()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206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Quick check runs code in an isolated subprocess — no effect on the main process.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"/>
            <a:ext cx="12188952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Full StateGen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463040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332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Decompose
(1 LLM call)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0515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7128" y="960120"/>
            <a:ext cx="146304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12848" y="10332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State 0
✓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0168" y="10515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68496" y="960120"/>
            <a:ext cx="146304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14215" y="10332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State 1
attempt 0 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31536" y="10515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9864" y="960120"/>
            <a:ext cx="146304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15583" y="10332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State 1
attempt 1 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2904" y="10515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1" y="960120"/>
            <a:ext cx="1463040" cy="457200"/>
          </a:xfrm>
          <a:prstGeom prst="rect">
            <a:avLst/>
          </a:prstGeom>
          <a:solidFill>
            <a:srgbClr val="D97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16952" y="10332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Final BCB
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1645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Happy path:  all states pass  →  BCB tests pass  →  done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011680"/>
            <a:ext cx="11430000" cy="1188720"/>
          </a:xfrm>
          <a:prstGeom prst="rect">
            <a:avLst/>
          </a:prstGeom>
          <a:solidFill>
            <a:srgbClr val="FFFBEB"/>
          </a:solidFill>
          <a:ln w="9525">
            <a:solidFill>
              <a:srgbClr val="D974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103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406"/>
                </a:solidFill>
              </a:rPr>
              <a:t>If final BCB eval fails after all states pass quick check: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423160"/>
            <a:ext cx="146304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4963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BCB
FAIL 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25146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41448" y="2423160"/>
            <a:ext cx="1463040" cy="457200"/>
          </a:xfrm>
          <a:prstGeom prst="rect">
            <a:avLst/>
          </a:prstGeom>
          <a:solidFill>
            <a:srgbClr val="D97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87168" y="24963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Whole-solution
repair call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04487" y="25146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42816" y="2423160"/>
            <a:ext cx="1463040" cy="457200"/>
          </a:xfrm>
          <a:prstGeom prst="rect">
            <a:avLst/>
          </a:prstGeom>
          <a:solidFill>
            <a:srgbClr val="D97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88536" y="24963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BCB
eval again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05856" y="25146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4183" y="2423160"/>
            <a:ext cx="1463040" cy="457200"/>
          </a:xfrm>
          <a:prstGeom prst="rect">
            <a:avLst/>
          </a:prstGeom>
          <a:solidFill>
            <a:srgbClr val="D97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9903" y="24963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Up to 4
repair rounds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07223" y="25146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45552" y="2423160"/>
            <a:ext cx="146304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91272" y="24963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BCB
PASS 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3749039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BCB evaluation runs the official unit test suite inside Docker — not just syntax checks.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4160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Memory manager: before generating each state, check similarity cache — skip LLM call if hit (threshold = 0.85 cosine similarity).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"/>
            <a:ext cx="12188952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Benchmark: BigCodeBench Hard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3657600" cy="2286000"/>
          </a:xfrm>
          <a:prstGeom prst="rect">
            <a:avLst/>
          </a:prstGeom>
          <a:solidFill>
            <a:srgbClr val="EFF6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36576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024128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</a:rPr>
              <a:t>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316736"/>
            <a:ext cx="343814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148 tasks from the hard instruct subset
Real-world library usage:
pandas, sklearn, matplotlib,
tensorflow, flask, openpyxl, …
Each task has 5–15 unit tests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914400"/>
            <a:ext cx="3657600" cy="2286000"/>
          </a:xfrm>
          <a:prstGeom prst="rect">
            <a:avLst/>
          </a:prstGeom>
          <a:solidFill>
            <a:srgbClr val="FFF1F1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914400"/>
            <a:ext cx="365760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7408" y="1024128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Why it's hard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1316736"/>
            <a:ext cx="343814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Tests check exact outputs,
types, shapes, and edge cases
Requires correct API usage
— not just plausible-looking code
SoTA models score only 30–45%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914400"/>
            <a:ext cx="3566160" cy="2286000"/>
          </a:xfrm>
          <a:prstGeom prst="rect">
            <a:avLst/>
          </a:prstGeom>
          <a:solidFill>
            <a:srgbClr val="F0FDF4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914400"/>
            <a:ext cx="356616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7" y="1024128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7" y="1316736"/>
            <a:ext cx="334670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Official Docker container
runs real Python unit tests
Metric: pass@1
(first solution must pass all tests)
No partial credit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29000"/>
            <a:ext cx="11612880" cy="1371600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5204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</a:rPr>
              <a:t>Example task  (BigCodeBench/82)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404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Given a list of file paths and a target directory, read each CSV file with pandas, apply StandardScaler normalisation, and write the scaled data to the target directory. Return a dict mapping filename → scaled DataFrame.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"/>
            <a:ext cx="12188952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Results: DeepSeek-Coder  (148 tasks, BCB Hard)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347472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960120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914400"/>
            <a:ext cx="182880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13632" y="9601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Pass@1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914400"/>
            <a:ext cx="210312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42432" y="960120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Avg Tokens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914400"/>
            <a:ext cx="210312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45552" y="960120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Avg Retries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5520" y="914400"/>
            <a:ext cx="192024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48672" y="960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Avg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261872"/>
            <a:ext cx="34747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1316736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Direct Generation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1261872"/>
            <a:ext cx="18288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13632" y="131673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23.0%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1261872"/>
            <a:ext cx="21031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1316736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603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1261872"/>
            <a:ext cx="21031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1316736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0.00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75520" y="1261872"/>
            <a:ext cx="19202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48672" y="13167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19 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1609344"/>
            <a:ext cx="3474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1664208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Self-Planning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1609344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166420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28.4%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1609344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42432" y="1664208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3,197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1609344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45552" y="1664208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3.04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0" y="1609344"/>
            <a:ext cx="1920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48672" y="16642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87 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1956816"/>
            <a:ext cx="347472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201168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</a:rPr>
              <a:t>StateGen  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0" y="1956816"/>
            <a:ext cx="182880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13632" y="201168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</a:rPr>
              <a:t>29.7%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0" y="1956816"/>
            <a:ext cx="210312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42432" y="2011680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</a:rPr>
              <a:t>3,106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1956816"/>
            <a:ext cx="210312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45552" y="2011680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</a:rPr>
              <a:t>1.80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875520" y="1956816"/>
            <a:ext cx="192024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48672" y="20116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</a:rPr>
              <a:t>75 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2304288"/>
            <a:ext cx="3474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912" y="2359152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Self-Debugging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40480" y="2304288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13632" y="235915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30.3%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0" y="2304288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42432" y="2359152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6,560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72400" y="2304288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45552" y="2359152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1.48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75520" y="2304288"/>
            <a:ext cx="1920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48672" y="23591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140 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3246120"/>
            <a:ext cx="3566160" cy="1737360"/>
          </a:xfrm>
          <a:prstGeom prst="rect">
            <a:avLst/>
          </a:prstGeom>
          <a:solidFill>
            <a:srgbClr val="F0FDF4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74320" y="3246120"/>
            <a:ext cx="356616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3355848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+29% relative improvement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4048" y="3648456"/>
            <a:ext cx="334670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23.0%  →  29.7% over direct generation
(+6.7 percentage points absolute)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0" y="3246120"/>
            <a:ext cx="3657600" cy="1737360"/>
          </a:xfrm>
          <a:prstGeom prst="rect">
            <a:avLst/>
          </a:prstGeom>
          <a:solidFill>
            <a:srgbClr val="F0FDF4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114800" y="3246120"/>
            <a:ext cx="365760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24528" y="3355848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53% fewer tokens vs Self-Debugging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24528" y="3648456"/>
            <a:ext cx="34381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Matches Self-Debugging accuracy (29.7% vs 30.3%)
at 3,106 vs 6,560 tokens per task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46720" y="3246120"/>
            <a:ext cx="3840480" cy="1737360"/>
          </a:xfrm>
          <a:prstGeom prst="rect">
            <a:avLst/>
          </a:prstGeom>
          <a:solidFill>
            <a:srgbClr val="F0FDF4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046720" y="3246120"/>
            <a:ext cx="384048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56448" y="3355848"/>
            <a:ext cx="3621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More efficient than Self-Planning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56448" y="3648456"/>
            <a:ext cx="362102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Slightly better accuracy (29.7% vs 28.4%)
Fewer retries (1.80 vs 3.04)
14% faster wall time (75s vs 87s)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"/>
            <a:ext cx="12188952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Ablation Study: Which Components Drive the Gain?  (DeepSeek-Coder)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265176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960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Variant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914400"/>
            <a:ext cx="274320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90672" y="960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What is removed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914400"/>
            <a:ext cx="128016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33872" y="96012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Pass@1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79" y="914400"/>
            <a:ext cx="146304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4031" y="960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Avg Tokens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19" y="914400"/>
            <a:ext cx="146304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7072" y="960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Avg Retries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66959" y="914400"/>
            <a:ext cx="164592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40111" y="9601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Δ Pass@1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261872"/>
            <a:ext cx="265176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131673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</a:rPr>
              <a:t>StateGen (full)  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1261872"/>
            <a:ext cx="274320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90672" y="131673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0" y="1261872"/>
            <a:ext cx="128016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33872" y="1316736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</a:rPr>
              <a:t>29.7%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79" y="1261872"/>
            <a:ext cx="146304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14031" y="131673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</a:rPr>
              <a:t>3,106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19" y="1261872"/>
            <a:ext cx="146304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131673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</a:rPr>
              <a:t>1.80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66959" y="1261872"/>
            <a:ext cx="164592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40111" y="131673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1609344"/>
            <a:ext cx="2651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16642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No memory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1609344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90672" y="166420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Pattern similarity cache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0" y="1609344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33872" y="1664208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27.7%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40879" y="1609344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14031" y="16642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3,433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03919" y="1609344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77072" y="16642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4.70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66959" y="1609344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40111" y="166420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−2.0 pp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1956816"/>
            <a:ext cx="26517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" y="20116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No decompose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17520" y="1956816"/>
            <a:ext cx="27432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90672" y="20116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State decomposition step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60720" y="1956816"/>
            <a:ext cx="12801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33872" y="2011680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29.1%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40879" y="1956816"/>
            <a:ext cx="14630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14031" y="20116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2,340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03919" y="1956816"/>
            <a:ext cx="14630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77072" y="20116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1.74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966959" y="1956816"/>
            <a:ext cx="16459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40111" y="20116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−0.6 pp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2304288"/>
            <a:ext cx="2651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8912" y="235915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Full backtrack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2304288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90672" y="235915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Reset entire decomp on fail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760720" y="2304288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33872" y="2359152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29.7%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40879" y="2304288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14031" y="23591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3,345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03919" y="2304288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77072" y="23591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4.66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966959" y="2304288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040111" y="23591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±0.0 pp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3246120"/>
            <a:ext cx="11612880" cy="1920240"/>
          </a:xfrm>
          <a:prstGeom prst="rect">
            <a:avLst/>
          </a:prstGeom>
          <a:solidFill>
            <a:srgbClr val="EFF6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33375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46E5"/>
                </a:solidFill>
              </a:rPr>
              <a:t>Key insight: memory is the most critical component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370332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Removing memory costs −2.0 pp accuracy AND increases tokens by 10% (3,433 vs 3,106) AND 2.6× more retries — strictly worse on every dimension.
Full backtrack ties local repair in accuracy (both 29.7%) but uses 2.6× more retries (4.66 vs 1.80) and 8% more tokens.
Local repair advantage is efficiency, not absolute accuracy: same pass rate with far less redundant work.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"/>
            <a:ext cx="12188952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Results: Gemini 2.5 Flash  (148 tasks, BCB Hard)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320040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960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0" y="914400"/>
            <a:ext cx="173736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9312" y="96012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Pass@1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914400"/>
            <a:ext cx="182880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76672" y="9601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Avg Tokens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914400"/>
            <a:ext cx="182880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5472" y="9601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Avg Retries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914400"/>
            <a:ext cx="173736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34272" y="96012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Avg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261872"/>
            <a:ext cx="32004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131673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Direct Generation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1261872"/>
            <a:ext cx="17373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9312" y="1316736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45.3%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1261872"/>
            <a:ext cx="18288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76672" y="131673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901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1261872"/>
            <a:ext cx="18288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05472" y="131673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0.00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1261872"/>
            <a:ext cx="17373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34272" y="1316736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16 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1609344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166420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Self-Planning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6160" y="1609344"/>
            <a:ext cx="1737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39312" y="1664208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45.3%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0" y="1609344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76672" y="166420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4,226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0" y="1609344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05472" y="166420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2.20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0" y="1609344"/>
            <a:ext cx="1737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34272" y="1664208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34 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1956816"/>
            <a:ext cx="32004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201168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Self-Debugging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66160" y="1956816"/>
            <a:ext cx="17373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39312" y="2011680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81.8%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0" y="1956816"/>
            <a:ext cx="18288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76672" y="201168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6,033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0" y="1956816"/>
            <a:ext cx="18288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05472" y="201168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0.52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61120" y="1956816"/>
            <a:ext cx="17373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34272" y="2011680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35 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2304288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912" y="235915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StateGen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66160" y="2304288"/>
            <a:ext cx="1737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39312" y="2359152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80.4%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03520" y="2304288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76672" y="235915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3,471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32320" y="2304288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05472" y="235915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3.59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61120" y="2304288"/>
            <a:ext cx="1737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34272" y="2359152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57 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2651760"/>
            <a:ext cx="32004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8912" y="270662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No Memory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66160" y="2651760"/>
            <a:ext cx="17373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39312" y="2706624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68.2%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03520" y="2651760"/>
            <a:ext cx="18288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76672" y="270662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3,571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32320" y="2651760"/>
            <a:ext cx="18288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05472" y="270662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3.88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61120" y="2651760"/>
            <a:ext cx="17373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34272" y="2706624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52 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2999232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8912" y="305409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No Decompose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566160" y="2999232"/>
            <a:ext cx="1737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39312" y="3054096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82.4%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303520" y="2999232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376672" y="305409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2,559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132320" y="2999232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205472" y="305409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1.09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961120" y="2999232"/>
            <a:ext cx="1737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034272" y="3054096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33 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5760" y="3346704"/>
            <a:ext cx="320040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38912" y="340156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</a:rPr>
              <a:t>Full Backtrack  ★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66160" y="3346704"/>
            <a:ext cx="173736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39312" y="3401568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</a:rPr>
              <a:t>83.8%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303520" y="3346704"/>
            <a:ext cx="182880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376672" y="340156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</a:rPr>
              <a:t>3,413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132320" y="3346704"/>
            <a:ext cx="182880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205472" y="340156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</a:rPr>
              <a:t>3.70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961120" y="3346704"/>
            <a:ext cx="173736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034272" y="3401568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</a:rPr>
              <a:t>59 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4320" y="3886200"/>
            <a:ext cx="3657600" cy="1828800"/>
          </a:xfrm>
          <a:prstGeom prst="rect">
            <a:avLst/>
          </a:prstGeom>
          <a:solidFill>
            <a:srgbClr val="FFFBEB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74320" y="3886200"/>
            <a:ext cx="3657600" cy="54864"/>
          </a:xfrm>
          <a:prstGeom prst="rect">
            <a:avLst/>
          </a:prstGeom>
          <a:solidFill>
            <a:srgbClr val="D97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84048" y="3995928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406"/>
                </a:solidFill>
              </a:rPr>
              <a:t>Self-Planning stalls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84048" y="4288536"/>
            <a:ext cx="34381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Self-Planning = 45.3% — identical to Direct Gen.
Gemini already plans internally via thinking tokens.
External planning prompt adds noise, not value.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206240" y="3886200"/>
            <a:ext cx="3657600" cy="1828800"/>
          </a:xfrm>
          <a:prstGeom prst="rect">
            <a:avLst/>
          </a:prstGeom>
          <a:solidFill>
            <a:srgbClr val="FFF1F1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206240" y="3886200"/>
            <a:ext cx="365760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315968" y="3995928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Memory critical (−12.2 pp)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315968" y="4288536"/>
            <a:ext cx="34381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No Memory drops from 80.4% → 68.2%.
Largest single-component effect across all experiments.
Gemini failure modes are predictable &amp; reusable.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229600" y="3886200"/>
            <a:ext cx="3657600" cy="1828800"/>
          </a:xfrm>
          <a:prstGeom prst="rect">
            <a:avLst/>
          </a:prstGeom>
          <a:solidFill>
            <a:srgbClr val="F0FDF4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29600" y="3886200"/>
            <a:ext cx="365760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339327" y="3995928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Best: Full Backtrack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339327" y="4288536"/>
            <a:ext cx="34381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83.8% at 3,413 tokens — beats Self-Debugging (81.8%) at half the tokens.
No Decompose is close (82.4%) at 25% fewer tokens.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"/>
            <a:ext cx="12188952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Results: GPT-4o Azure  (148 tasks, BCB Hard)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320040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960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0" y="914400"/>
            <a:ext cx="173736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9312" y="96012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Pass@1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914400"/>
            <a:ext cx="182880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76672" y="9601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Avg Tokens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914400"/>
            <a:ext cx="182880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5472" y="9601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Avg Retries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914400"/>
            <a:ext cx="173736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34272" y="96012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Avg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261872"/>
            <a:ext cx="320040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131673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</a:rPr>
              <a:t>No Decompose  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1261872"/>
            <a:ext cx="173736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9312" y="1316736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</a:rPr>
              <a:t>83.8%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1261872"/>
            <a:ext cx="182880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76672" y="131673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</a:rPr>
              <a:t>1,193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1261872"/>
            <a:ext cx="182880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05472" y="131673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</a:rPr>
              <a:t>0.90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1261872"/>
            <a:ext cx="173736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34272" y="1316736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</a:rPr>
              <a:t>6 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1609344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166420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Full Backtrack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6160" y="1609344"/>
            <a:ext cx="1737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39312" y="1664208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83.1%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0" y="1609344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76672" y="166420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3,053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0" y="1609344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05472" y="166420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3.61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0" y="1609344"/>
            <a:ext cx="1737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34272" y="1664208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21 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1956816"/>
            <a:ext cx="32004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201168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StateGen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66160" y="1956816"/>
            <a:ext cx="17373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39312" y="2011680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82.4%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0" y="1956816"/>
            <a:ext cx="18288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76672" y="201168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3,146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0" y="1956816"/>
            <a:ext cx="18288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05472" y="201168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3.82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61120" y="1956816"/>
            <a:ext cx="17373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34272" y="2011680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19 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2304288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912" y="235915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No Memory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66160" y="2304288"/>
            <a:ext cx="1737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39312" y="2359152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82.4%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03520" y="2304288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76672" y="235915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2,907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32320" y="2304288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05472" y="235915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3.14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61120" y="2304288"/>
            <a:ext cx="1737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34272" y="2359152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16 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3200400"/>
            <a:ext cx="3566160" cy="2011680"/>
          </a:xfrm>
          <a:prstGeom prst="rect">
            <a:avLst/>
          </a:prstGeom>
          <a:solidFill>
            <a:srgbClr val="F0FDF4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74320" y="3200400"/>
            <a:ext cx="356616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3310128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62% fewer tokens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4048" y="3602736"/>
            <a:ext cx="334670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No Decompose: 1,193 tokens vs 3,146 for full StateGen.
Highest pass rate (83.8%) at lowest cost.
Skipping decomposition = faster + better for GPT-4o.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0" y="3200400"/>
            <a:ext cx="3840480" cy="2011680"/>
          </a:xfrm>
          <a:prstGeom prst="rect">
            <a:avLst/>
          </a:prstGeom>
          <a:solidFill>
            <a:srgbClr val="FFFBEB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114800" y="3200400"/>
            <a:ext cx="3840480" cy="54864"/>
          </a:xfrm>
          <a:prstGeom prst="rect">
            <a:avLst/>
          </a:prstGeom>
          <a:solidFill>
            <a:srgbClr val="D97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24528" y="3310128"/>
            <a:ext cx="3621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406"/>
                </a:solidFill>
              </a:rPr>
              <a:t>Memory has zero effect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24528" y="3602736"/>
            <a:ext cx="362102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StateGen vs No Memory: both 82.4%.
GPT-4o failure modes are idiosyncratic — patterns from past tasks don't transfer.
Cache adds cost, not accuracy.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29600" y="3200400"/>
            <a:ext cx="3657600" cy="2011680"/>
          </a:xfrm>
          <a:prstGeom prst="rect">
            <a:avLst/>
          </a:prstGeom>
          <a:solidFill>
            <a:srgbClr val="EFF6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29600" y="3200400"/>
            <a:ext cx="36576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39327" y="3310128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</a:rPr>
              <a:t>6 seconds per task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39327" y="3602736"/>
            <a:ext cx="34381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No Decompose averages only 6 s/task — 3× faster than any other variant.
Skipping the decomposition call eliminates the most expensive LLM step.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" y="5394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Note: Direct Gen, Self-Planning, Self-Debugging baselines not run for GPT-4o (StateGen variants only).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"/>
            <a:ext cx="12188952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Cross-Model Comparison  (148 tasks each)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47472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051560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1005840"/>
            <a:ext cx="256032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13632" y="105156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DeepSeek-Coder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005840"/>
            <a:ext cx="256032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05156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Gemini 2.5 Flash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1005840"/>
            <a:ext cx="256032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34272" y="105156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GPT-4o Azure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53312"/>
            <a:ext cx="34747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1408176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StateGen (full)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1353312"/>
            <a:ext cx="25603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2" y="1408176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29.7%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353312"/>
            <a:ext cx="25603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1408176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80.4%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1353312"/>
            <a:ext cx="25603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34272" y="1408176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82.4%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1700784"/>
            <a:ext cx="3474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1755648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No Memory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1700784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1755648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27.7%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700784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1755648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68.2%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0" y="1700784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34272" y="1755648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82.4%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048256"/>
            <a:ext cx="34747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210312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No Decompose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0" y="2048256"/>
            <a:ext cx="25603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13632" y="2103120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29.1%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048256"/>
            <a:ext cx="25603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2" y="2103120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82.4%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61120" y="2048256"/>
            <a:ext cx="25603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34272" y="2103120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83.8%  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2395728"/>
            <a:ext cx="3474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" y="2450592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Full Backtrack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0" y="2395728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13632" y="2450592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29.7%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2395728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73952" y="2450592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83.8%  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61120" y="2395728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34272" y="2450592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83.1%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2743200"/>
            <a:ext cx="34747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912" y="2798064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Direct Generation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40480" y="2743200"/>
            <a:ext cx="25603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13632" y="2798064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23.0%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2743200"/>
            <a:ext cx="25603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73952" y="2798064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45.3%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61120" y="2743200"/>
            <a:ext cx="25603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34272" y="2798064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3090672"/>
            <a:ext cx="3474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8912" y="3145536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Self-Debugging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40480" y="3090672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13632" y="3145536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30.3%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0" y="3090672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73952" y="3145536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81.8%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961120" y="3090672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34272" y="3145536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4114800"/>
            <a:ext cx="11612880" cy="2011680"/>
          </a:xfrm>
          <a:prstGeom prst="rect">
            <a:avLst/>
          </a:prstGeom>
          <a:solidFill>
            <a:srgbClr val="EFF6FF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4206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</a:rPr>
              <a:t>Three patterns across model tiers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45720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1.  Accuracy ceiling: frontier models reach 80–84% across ALL variants; variant choice drives efficiency not accuracy.
2.  Memory matters for Gemini (−12.2 pp without it) but not GPT-4o (±0 pp) — model-specific failure distributions.
3.  Decomposition overhead: GPT-4o's best result skips decomposition entirely (83.8% at 1,193 tokens vs 3,146 for full StateGen).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"/>
            <a:ext cx="12188952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Scaffolding Helps Less for Frontier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3657600" cy="2377440"/>
          </a:xfrm>
          <a:prstGeom prst="rect">
            <a:avLst/>
          </a:prstGeom>
          <a:solidFill>
            <a:srgbClr val="EFF6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36576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024128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</a:rPr>
              <a:t>Emergent Planning
(Wei et al., 2022)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316736"/>
            <a:ext cx="34381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Above a capability threshold, models develop implicit planning without prompting.
Gemini 2.5 Flash uses extended thinking tokens — it already decomposes internally.
Our STATE/CODE scaffold partially conflicts with the model's own plan.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914400"/>
            <a:ext cx="3657600" cy="2377440"/>
          </a:xfrm>
          <a:prstGeom prst="rect">
            <a:avLst/>
          </a:prstGeom>
          <a:solidFill>
            <a:srgbClr val="FFFBEB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6240" y="914400"/>
            <a:ext cx="3657600" cy="54864"/>
          </a:xfrm>
          <a:prstGeom prst="rect">
            <a:avLst/>
          </a:prstGeom>
          <a:solidFill>
            <a:srgbClr val="D97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5968" y="1024128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406"/>
                </a:solidFill>
              </a:rPr>
              <a:t>CoT Helps Weaker Models More
(Kojima et al., 2022)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1316736"/>
            <a:ext cx="34381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Plan-and-Solve prompting gives consistent gains for smaller models but diminishing returns for frontier models.
DeepSeek-Coder benefits from the full scaffold (+29% relative).
GPT-4o's best result uses the simplest variant (no decompose).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914400"/>
            <a:ext cx="3474720" cy="2377440"/>
          </a:xfrm>
          <a:prstGeom prst="rect">
            <a:avLst/>
          </a:prstGeom>
          <a:solidFill>
            <a:srgbClr val="FFF1F1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914400"/>
            <a:ext cx="34747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7" y="1024128"/>
            <a:ext cx="325526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Memory &amp; Distribution
(Huang et al., 2023)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7" y="1316736"/>
            <a:ext cx="3255263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The pattern cache is calibrated from previous tasks with the same model.
Gemini: −12.2 pp without memory → predictable failure patterns reuse well.
GPT-4o: ±0 pp without memory → idiosyncratic outputs, cache adds no value.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520440"/>
            <a:ext cx="11612880" cy="164592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6118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Actionable finding for practitioners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77639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Mid-tier models (DeepSeek): use full StateGen — decomposition + memory + local repair all add value.
Frontier + thinking tokens (Gemini): keep memory cache (critical), use full backtrack or no-decompose.
Frontier + strong RLHF (GPT-4o): use no_decompose only — 83.8% at 1,193 tokens, 6 seconds per task.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"/>
            <a:ext cx="12188952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</a:rPr>
              <a:t>Live API calls to DeepSeek-Coder on any of 148 BigCodeBench tasks: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303520" cy="3017520"/>
          </a:xfrm>
          <a:prstGeom prst="rect">
            <a:avLst/>
          </a:prstGeom>
          <a:solidFill>
            <a:srgbClr val="EFF6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30352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298448"/>
            <a:ext cx="50840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</a:rPr>
              <a:t>What you'll see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591056"/>
            <a:ext cx="508406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→  Select any BCB task (148 available)
→  Choose method: Direct Gen / Self-Planning /
     Self-Debugging / StateGen / Ablation
→  Watch the live API call in real time
→  See each step: decomposition, per-state
     verification, repairs, memory hits
→  Final token count and pass/fail result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188720"/>
            <a:ext cx="2834640" cy="1280160"/>
          </a:xfrm>
          <a:prstGeom prst="rect">
            <a:avLst/>
          </a:prstGeom>
          <a:solidFill>
            <a:srgbClr val="F0FDF4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0" y="1188720"/>
            <a:ext cx="283464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53328" y="1298448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Good demo tasks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53328" y="1591056"/>
            <a:ext cx="2615184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BCB/34 — StateGen repairs state 1
BCB/82 — memory hit on state 0
BCB/129 — self-debugging repairs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60" y="1188720"/>
            <a:ext cx="2834640" cy="1280160"/>
          </a:xfrm>
          <a:prstGeom prst="rect">
            <a:avLst/>
          </a:prstGeom>
          <a:solidFill>
            <a:srgbClr val="EFF6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52560" y="1188720"/>
            <a:ext cx="283464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62288" y="1298448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</a:rPr>
              <a:t>Run the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62288" y="1591056"/>
            <a:ext cx="2615184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streamlit run demo/app.py
Opens at localhost:8501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2743200"/>
            <a:ext cx="5943600" cy="1463040"/>
          </a:xfrm>
          <a:prstGeom prst="rect">
            <a:avLst/>
          </a:prstGeom>
          <a:solidFill>
            <a:srgbClr val="FFFBEB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2743200"/>
            <a:ext cx="5943600" cy="54864"/>
          </a:xfrm>
          <a:prstGeom prst="rect">
            <a:avLst/>
          </a:prstGeom>
          <a:solidFill>
            <a:srgbClr val="D97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53328" y="2852928"/>
            <a:ext cx="5724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406"/>
                </a:solidFill>
              </a:rPr>
              <a:t>What makes the demo interesting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3328" y="3145536"/>
            <a:ext cx="57241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Run the same task with different methods side by side and compare:
how many LLM calls, which states failed, how the repair prompt looks,
and exactly how many tokens each method consumed.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88952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Summary &amp; Conclusions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3566160" cy="1737360"/>
          </a:xfrm>
          <a:prstGeom prst="rect">
            <a:avLst/>
          </a:prstGeom>
          <a:solidFill>
            <a:srgbClr val="F0FDF4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356616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024128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✓  Accuracy (DeepSeek)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316736"/>
            <a:ext cx="334670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+29% relative vs direct gen.
23.0% → 29.7% pass@1.
Competitive with self-debugging at 53% fewer tokens.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914400"/>
            <a:ext cx="3566160" cy="1737360"/>
          </a:xfrm>
          <a:prstGeom prst="rect">
            <a:avLst/>
          </a:prstGeom>
          <a:solidFill>
            <a:srgbClr val="F0FDF4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0" y="914400"/>
            <a:ext cx="356616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24528" y="1024128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✓  Efficiency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1316736"/>
            <a:ext cx="334670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3,106 tokens vs 6,560 (self-debugging).
75s vs 140s per task.
Fewer retries: 1.80 vs 3.04 (self-planning).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914400"/>
            <a:ext cx="3931920" cy="1737360"/>
          </a:xfrm>
          <a:prstGeom prst="rect">
            <a:avLst/>
          </a:prstGeom>
          <a:solidFill>
            <a:srgbClr val="F0FDF4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914400"/>
            <a:ext cx="393192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7" y="1024128"/>
            <a:ext cx="371246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✓  Local &gt; Full Backtrack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7" y="1316736"/>
            <a:ext cx="371246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Same accuracy (29.7%) at 2.6× fewer retries.
Bugs are local — reset to s₀ wastes correct states.
Efficiency win, not accuracy win.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26080"/>
            <a:ext cx="5394960" cy="1920240"/>
          </a:xfrm>
          <a:prstGeom prst="rect">
            <a:avLst/>
          </a:prstGeom>
          <a:solidFill>
            <a:srgbClr val="FFFBEB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926080"/>
            <a:ext cx="5394960" cy="54864"/>
          </a:xfrm>
          <a:prstGeom prst="rect">
            <a:avLst/>
          </a:prstGeom>
          <a:solidFill>
            <a:srgbClr val="D97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035808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406"/>
                </a:solidFill>
              </a:rPr>
              <a:t>Cross-Model Finding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3328416"/>
            <a:ext cx="517550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Scaffolding value scales inversely with model capability.
DeepSeek (mid-tier): full StateGen best (29.7%).
Gemini 2.5 Flash: full backtrack best (83.8%); memory critical (−12.2 pp).
GPT-4o Azure: no_decompose best (83.8% at only 1,193 tokens).
Frontier models already plan internally (Wei et al., 2022).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2926080"/>
            <a:ext cx="5943600" cy="1920240"/>
          </a:xfrm>
          <a:prstGeom prst="rect">
            <a:avLst/>
          </a:prstGeom>
          <a:solidFill>
            <a:srgbClr val="EFF6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0" y="2926080"/>
            <a:ext cx="59436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53328" y="3035808"/>
            <a:ext cx="5724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</a:rPr>
              <a:t>Key Takeaway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53328" y="3328416"/>
            <a:ext cx="5724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Treating code generation as an MDP with local state-based repair gives better token efficiency than global retry for mid-tier models.
For frontier models, the execution oracle (quick check) is the universally valuable component — the appropriate level of decomposition scaffolding scales inversely with model capability, consistent with emergent abilities literature (Wei et al., 2022; Kojima et al., 2022).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